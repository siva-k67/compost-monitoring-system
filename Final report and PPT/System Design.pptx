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T2024514 C Siva Kumar" initials="MC" lastIdx="1" clrIdx="0">
    <p:extLst>
      <p:ext uri="{19B8F6BF-5375-455C-9EA6-DF929625EA0E}">
        <p15:presenceInfo xmlns:p15="http://schemas.microsoft.com/office/powerpoint/2012/main" userId="S::CSiva.Kumar@iiitb.ac.in::f81d3d75-9ed1-4c83-8cf5-22ef96cb6ed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66EF-B707-F9B9-CD28-6023D2DB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A1592E-BEB3-DAAF-231E-32FA04A72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7EC95-F52E-4C26-00DB-4485147FB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DF0AF-2CA1-AEB8-E229-8D033733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F9CEF-2F02-A3F8-AE0E-9C4FA721F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16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02D13-2A39-9064-9695-FF8A2298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C27E-C3C0-EC4E-406F-9191502BF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D307D-CFE8-6388-A7EA-BD3791D30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E483D-F70D-9ED0-DDDD-68868743A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1F932-8B93-D00F-534E-2EA5BFB53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529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7106B-B0B9-8B99-DD28-9A4681CE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4BD46-FF70-C77D-BB4E-8BC8558B1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BAA9F-BF45-BEE9-CC71-3A58F7C8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611B6-31F4-0043-E2FC-740F52B4B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22785-C6D8-DD19-1074-FC17E2555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61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F79FD-DC39-8143-E285-288274423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D6D2-2009-2A91-44D3-F08F054E6D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3F7A9-D7C9-3B28-5D00-626DD4684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5EFD2C-A1E5-65A7-228A-BD4A4C280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CF460-4BDE-5886-0F39-6B8062D1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3FC07B-347C-B8BA-9A55-44240881C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491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A2DC-CBA5-A48A-BE86-7D90BBF36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989FA-FD6D-C6BB-CB4B-C79E2016C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F35367-3FB3-16BF-7D75-1089C95F32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957C7-A7BA-7990-975B-01821C40A5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C7B34-DAFD-1F70-0FEE-A5C139A3C1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E724D8-C543-0835-78C9-8A24C5D77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B5DDBB-8D18-7EE3-0AF0-FFAA76E0C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7DA2B8-A8F4-9303-7D5B-50664C9E2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1020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06C9D-2BAB-DB3C-EA16-A508F3774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0FC5CA-69F0-84F8-3042-9E6AD69B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D76A88-8BC4-24A2-B2F9-6B6614560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2A8564-BD5B-023E-7A4C-C2E8E4045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0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816C3-D665-6B8F-7121-295A4A8D4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9DD10C-CB77-D429-B1C9-B0E28C96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006DF-C232-B656-A63C-E251F09B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34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0B1CD-04F1-C3DB-8516-08DE6C266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5E6F4-FD50-E9A0-2329-8DDB36655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D3B0F-3F9E-74A1-C1B7-DD1DC465F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516858-BB12-2052-3930-4AC4B3CDB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22168-CEA2-DD33-7660-592979EC7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D71F1-1FA5-ECED-4095-D3E92FA8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46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9E764-D4F7-DBB4-8CA0-48A1AC252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8DB46-CDB6-E707-544B-95328E865E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544796-E233-4F6D-1AF2-AB069F626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3C8EC-F072-F739-ECF3-33F42ED27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07B28F-EBA5-EA19-FAE3-92B7B1A5A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C0CE4D-C969-2409-3544-B6026EEFE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34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84D53-3DD4-60D2-2B2A-1E3A20B0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27628-E032-2A76-E53F-0391A8D9E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2E2EA-CA54-6316-0A47-6DE6A11DD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E67F5-D8D3-50C7-2A85-5C2DAD504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56DCF-00E6-2C00-A8F8-9BFF93094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97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311AC-6BA8-F41C-91FC-A1FD7A0CF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D1CDB-41E4-5CF6-2339-637B42A90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D59C8-79BA-410D-573E-955988B2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CE9E9-4376-4180-DDD7-31C26526F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A3190-C92C-6D7F-6281-1F0F4628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257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BFD6DC-D283-088D-1686-2F9BB4A9E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453A1-EADC-45FA-B06F-2E8DE3F884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9F898-6F80-88EB-3A93-E105B1152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3EBB5-FE1A-459F-8A8E-9887E14C5A86}" type="datetimeFigureOut">
              <a:rPr lang="en-IN" smtClean="0"/>
              <a:t>08-05-2025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BC57D-2087-04A4-217A-0F5DC11440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9884B-3404-0497-6B24-98D3D01B9D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BF520-9812-42C1-B109-BBE25EFC99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534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541F1-1548-8D45-5021-0F8FB6095C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System Level Design of </a:t>
            </a:r>
            <a:br>
              <a:rPr lang="en-IN" dirty="0"/>
            </a:br>
            <a:r>
              <a:rPr lang="en-IN" dirty="0"/>
              <a:t>RAG Recommendation System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995D9-5444-C34E-DA5D-F2B81E7596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098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D7309-6FD8-C32B-1759-42D52D86C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320" y="186786"/>
            <a:ext cx="10515600" cy="1325563"/>
          </a:xfrm>
        </p:spPr>
        <p:txBody>
          <a:bodyPr/>
          <a:lstStyle/>
          <a:p>
            <a:r>
              <a:rPr lang="en-IN" dirty="0"/>
              <a:t>Level 1</a:t>
            </a:r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8A8216D6-289A-4C50-C4AB-077CA73F1D2A}"/>
              </a:ext>
            </a:extLst>
          </p:cNvPr>
          <p:cNvSpPr/>
          <p:nvPr/>
        </p:nvSpPr>
        <p:spPr>
          <a:xfrm>
            <a:off x="1135466" y="1821266"/>
            <a:ext cx="1939332" cy="9144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Proprietary Data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C89F108F-D120-035B-9847-3E9826F54381}"/>
              </a:ext>
            </a:extLst>
          </p:cNvPr>
          <p:cNvSpPr/>
          <p:nvPr/>
        </p:nvSpPr>
        <p:spPr>
          <a:xfrm>
            <a:off x="3235904" y="2032281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Flowchart: Process 45">
            <a:extLst>
              <a:ext uri="{FF2B5EF4-FFF2-40B4-BE49-F238E27FC236}">
                <a16:creationId xmlns:a16="http://schemas.microsoft.com/office/drawing/2014/main" id="{DC37F597-E9BB-54ED-E4E3-C0452C60ED5A}"/>
              </a:ext>
            </a:extLst>
          </p:cNvPr>
          <p:cNvSpPr/>
          <p:nvPr/>
        </p:nvSpPr>
        <p:spPr>
          <a:xfrm>
            <a:off x="5255915" y="1901652"/>
            <a:ext cx="2200589" cy="83401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Embedding Model Like BAAI</a:t>
            </a:r>
          </a:p>
        </p:txBody>
      </p:sp>
      <p:sp>
        <p:nvSpPr>
          <p:cNvPr id="47" name="Arrow: Bent 46">
            <a:extLst>
              <a:ext uri="{FF2B5EF4-FFF2-40B4-BE49-F238E27FC236}">
                <a16:creationId xmlns:a16="http://schemas.microsoft.com/office/drawing/2014/main" id="{EABB3389-54D3-00CF-4875-B1088D8A0464}"/>
              </a:ext>
            </a:extLst>
          </p:cNvPr>
          <p:cNvSpPr/>
          <p:nvPr/>
        </p:nvSpPr>
        <p:spPr>
          <a:xfrm rot="5400000">
            <a:off x="8700196" y="1085299"/>
            <a:ext cx="834015" cy="3043781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8" name="Flowchart: Magnetic Disk 47">
            <a:extLst>
              <a:ext uri="{FF2B5EF4-FFF2-40B4-BE49-F238E27FC236}">
                <a16:creationId xmlns:a16="http://schemas.microsoft.com/office/drawing/2014/main" id="{0EE41ECE-8485-EC7F-194C-7FC08E026BAA}"/>
              </a:ext>
            </a:extLst>
          </p:cNvPr>
          <p:cNvSpPr/>
          <p:nvPr/>
        </p:nvSpPr>
        <p:spPr>
          <a:xfrm>
            <a:off x="9501024" y="3047051"/>
            <a:ext cx="1929284" cy="1850537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Vector Data Base like Chroma</a:t>
            </a:r>
          </a:p>
        </p:txBody>
      </p:sp>
      <p:sp>
        <p:nvSpPr>
          <p:cNvPr id="49" name="Arrow: Right 48">
            <a:extLst>
              <a:ext uri="{FF2B5EF4-FFF2-40B4-BE49-F238E27FC236}">
                <a16:creationId xmlns:a16="http://schemas.microsoft.com/office/drawing/2014/main" id="{8D7CA93A-63E6-AB17-80A0-1B2B33908A89}"/>
              </a:ext>
            </a:extLst>
          </p:cNvPr>
          <p:cNvSpPr/>
          <p:nvPr/>
        </p:nvSpPr>
        <p:spPr>
          <a:xfrm>
            <a:off x="7666890" y="4079988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FE6183A2-5758-BD2B-2B57-71D73B3F8A92}"/>
              </a:ext>
            </a:extLst>
          </p:cNvPr>
          <p:cNvSpPr/>
          <p:nvPr/>
        </p:nvSpPr>
        <p:spPr>
          <a:xfrm rot="10800000">
            <a:off x="7595313" y="3587619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F2F3C584-97B7-BDDF-3821-CD37C22A89F6}"/>
              </a:ext>
            </a:extLst>
          </p:cNvPr>
          <p:cNvSpPr/>
          <p:nvPr/>
        </p:nvSpPr>
        <p:spPr>
          <a:xfrm>
            <a:off x="5526229" y="3657957"/>
            <a:ext cx="1939332" cy="9144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Orchestrator</a:t>
            </a:r>
          </a:p>
        </p:txBody>
      </p:sp>
      <p:sp>
        <p:nvSpPr>
          <p:cNvPr id="52" name="Speech Bubble: Oval 51">
            <a:extLst>
              <a:ext uri="{FF2B5EF4-FFF2-40B4-BE49-F238E27FC236}">
                <a16:creationId xmlns:a16="http://schemas.microsoft.com/office/drawing/2014/main" id="{4EC1F6A5-6E60-545A-9FD0-53294A72208F}"/>
              </a:ext>
            </a:extLst>
          </p:cNvPr>
          <p:cNvSpPr/>
          <p:nvPr/>
        </p:nvSpPr>
        <p:spPr>
          <a:xfrm>
            <a:off x="999193" y="3515119"/>
            <a:ext cx="2448560" cy="914400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User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37388001-1F39-1B9A-8925-9674F0DAED0B}"/>
              </a:ext>
            </a:extLst>
          </p:cNvPr>
          <p:cNvSpPr/>
          <p:nvPr/>
        </p:nvSpPr>
        <p:spPr>
          <a:xfrm>
            <a:off x="3577505" y="4052679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D8AF362-ED3E-7A23-9575-3D917D405773}"/>
              </a:ext>
            </a:extLst>
          </p:cNvPr>
          <p:cNvSpPr/>
          <p:nvPr/>
        </p:nvSpPr>
        <p:spPr>
          <a:xfrm rot="10800000">
            <a:off x="3536293" y="3582434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5" name="Flowchart: Process 54">
            <a:extLst>
              <a:ext uri="{FF2B5EF4-FFF2-40B4-BE49-F238E27FC236}">
                <a16:creationId xmlns:a16="http://schemas.microsoft.com/office/drawing/2014/main" id="{D347907F-D7E1-2B00-3DE6-C4F60D4CB72B}"/>
              </a:ext>
            </a:extLst>
          </p:cNvPr>
          <p:cNvSpPr/>
          <p:nvPr/>
        </p:nvSpPr>
        <p:spPr>
          <a:xfrm>
            <a:off x="5366112" y="5565111"/>
            <a:ext cx="2200589" cy="834014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LLM</a:t>
            </a:r>
          </a:p>
        </p:txBody>
      </p:sp>
      <p:sp>
        <p:nvSpPr>
          <p:cNvPr id="56" name="Arrow: Up 55">
            <a:extLst>
              <a:ext uri="{FF2B5EF4-FFF2-40B4-BE49-F238E27FC236}">
                <a16:creationId xmlns:a16="http://schemas.microsoft.com/office/drawing/2014/main" id="{3BC7A65F-B1AF-CE1C-641F-D5250C857C0A}"/>
              </a:ext>
            </a:extLst>
          </p:cNvPr>
          <p:cNvSpPr/>
          <p:nvPr/>
        </p:nvSpPr>
        <p:spPr>
          <a:xfrm>
            <a:off x="6012489" y="2797591"/>
            <a:ext cx="354076" cy="8340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Arrow: Down 56">
            <a:extLst>
              <a:ext uri="{FF2B5EF4-FFF2-40B4-BE49-F238E27FC236}">
                <a16:creationId xmlns:a16="http://schemas.microsoft.com/office/drawing/2014/main" id="{16F5DA38-A2A1-9C56-769B-CE15A64282FC}"/>
              </a:ext>
            </a:extLst>
          </p:cNvPr>
          <p:cNvSpPr/>
          <p:nvPr/>
        </p:nvSpPr>
        <p:spPr>
          <a:xfrm>
            <a:off x="6475456" y="2820295"/>
            <a:ext cx="354076" cy="8027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row: Down 57">
            <a:extLst>
              <a:ext uri="{FF2B5EF4-FFF2-40B4-BE49-F238E27FC236}">
                <a16:creationId xmlns:a16="http://schemas.microsoft.com/office/drawing/2014/main" id="{32D978F6-E706-43F4-4D5E-CD9FC18836D0}"/>
              </a:ext>
            </a:extLst>
          </p:cNvPr>
          <p:cNvSpPr/>
          <p:nvPr/>
        </p:nvSpPr>
        <p:spPr>
          <a:xfrm>
            <a:off x="6495895" y="4682992"/>
            <a:ext cx="396241" cy="8646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row: Up 58">
            <a:extLst>
              <a:ext uri="{FF2B5EF4-FFF2-40B4-BE49-F238E27FC236}">
                <a16:creationId xmlns:a16="http://schemas.microsoft.com/office/drawing/2014/main" id="{A0B328E8-1C82-74C3-5292-35EDBCF5EE27}"/>
              </a:ext>
            </a:extLst>
          </p:cNvPr>
          <p:cNvSpPr/>
          <p:nvPr/>
        </p:nvSpPr>
        <p:spPr>
          <a:xfrm>
            <a:off x="6002133" y="4620461"/>
            <a:ext cx="354076" cy="83401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667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3BFAB-8103-AEC6-22C5-8F0BF015B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Level 2 Proprietary Data</a:t>
            </a:r>
            <a:br>
              <a:rPr lang="en-IN" dirty="0"/>
            </a:br>
            <a:endParaRPr lang="en-IN" dirty="0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A0EC58FD-7E80-1A3B-5790-0D9A5F53190A}"/>
              </a:ext>
            </a:extLst>
          </p:cNvPr>
          <p:cNvSpPr/>
          <p:nvPr/>
        </p:nvSpPr>
        <p:spPr>
          <a:xfrm>
            <a:off x="972906" y="1800946"/>
            <a:ext cx="1939332" cy="9144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Research Papers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EF1E5FF-0814-507A-4A7A-104F0B83AE18}"/>
              </a:ext>
            </a:extLst>
          </p:cNvPr>
          <p:cNvSpPr/>
          <p:nvPr/>
        </p:nvSpPr>
        <p:spPr>
          <a:xfrm>
            <a:off x="3235904" y="2032281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E38546DD-8657-69F0-F22D-A18F12660BC8}"/>
              </a:ext>
            </a:extLst>
          </p:cNvPr>
          <p:cNvSpPr/>
          <p:nvPr/>
        </p:nvSpPr>
        <p:spPr>
          <a:xfrm>
            <a:off x="5228159" y="1821265"/>
            <a:ext cx="2301530" cy="115900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Extract Raw Text (Using </a:t>
            </a:r>
            <a:r>
              <a:rPr lang="en-IN" dirty="0" err="1"/>
              <a:t>pdfplumber</a:t>
            </a:r>
            <a:r>
              <a:rPr lang="en-IN" dirty="0"/>
              <a:t> to preserve document structure)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F204AA04-B7F7-A9C9-433B-454A94C969C6}"/>
              </a:ext>
            </a:extLst>
          </p:cNvPr>
          <p:cNvSpPr/>
          <p:nvPr/>
        </p:nvSpPr>
        <p:spPr>
          <a:xfrm>
            <a:off x="9754548" y="1943566"/>
            <a:ext cx="1939332" cy="9144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Clean text by removing URLs etc.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057CB438-F33A-A3FC-2DE6-3EB55FE79A39}"/>
              </a:ext>
            </a:extLst>
          </p:cNvPr>
          <p:cNvSpPr/>
          <p:nvPr/>
        </p:nvSpPr>
        <p:spPr>
          <a:xfrm rot="5400000">
            <a:off x="9952163" y="3714152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8A221A9-809F-B4D7-C2DF-E769889FA457}"/>
              </a:ext>
            </a:extLst>
          </p:cNvPr>
          <p:cNvSpPr/>
          <p:nvPr/>
        </p:nvSpPr>
        <p:spPr>
          <a:xfrm rot="10800000">
            <a:off x="7733336" y="5273722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CEDB30-7F64-7A66-BE8C-38981C370B4F}"/>
              </a:ext>
            </a:extLst>
          </p:cNvPr>
          <p:cNvSpPr txBox="1"/>
          <p:nvPr/>
        </p:nvSpPr>
        <p:spPr>
          <a:xfrm flipH="1">
            <a:off x="6006079" y="5073282"/>
            <a:ext cx="1523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To next Block </a:t>
            </a:r>
          </a:p>
          <a:p>
            <a:pPr algn="ctr"/>
            <a:r>
              <a:rPr lang="en-IN" dirty="0"/>
              <a:t> (Embedding Model)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6A882730-8722-8F03-B509-68162938779C}"/>
              </a:ext>
            </a:extLst>
          </p:cNvPr>
          <p:cNvSpPr/>
          <p:nvPr/>
        </p:nvSpPr>
        <p:spPr>
          <a:xfrm>
            <a:off x="9630616" y="5062707"/>
            <a:ext cx="1939332" cy="9144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Split the text into 1000 char chunks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06908A7-1B05-0AD0-D4BA-5194B1338888}"/>
              </a:ext>
            </a:extLst>
          </p:cNvPr>
          <p:cNvSpPr/>
          <p:nvPr/>
        </p:nvSpPr>
        <p:spPr>
          <a:xfrm>
            <a:off x="7733337" y="2032281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821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EC13-B56E-0282-CD3D-32DF63AA5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Level 2 Embedding Model</a:t>
            </a: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E7C16C20-FC8A-2A58-3C8E-752515579EB1}"/>
              </a:ext>
            </a:extLst>
          </p:cNvPr>
          <p:cNvSpPr/>
          <p:nvPr/>
        </p:nvSpPr>
        <p:spPr>
          <a:xfrm>
            <a:off x="5126334" y="3349977"/>
            <a:ext cx="1939332" cy="914400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BAAI/bge-small-en-v1.5 model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1FFFF8-49BC-24A2-221E-069940D4157A}"/>
              </a:ext>
            </a:extLst>
          </p:cNvPr>
          <p:cNvSpPr txBox="1"/>
          <p:nvPr/>
        </p:nvSpPr>
        <p:spPr>
          <a:xfrm>
            <a:off x="1501422" y="3618046"/>
            <a:ext cx="16368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Processed text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71CDCD-AA0C-35D2-CDF4-F0735CC28F6B}"/>
              </a:ext>
            </a:extLst>
          </p:cNvPr>
          <p:cNvSpPr txBox="1"/>
          <p:nvPr/>
        </p:nvSpPr>
        <p:spPr>
          <a:xfrm>
            <a:off x="9053689" y="3326935"/>
            <a:ext cx="16368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Embeddings go to next block Vector Database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262F983-3C2D-9C42-0DF6-4DB721798B67}"/>
              </a:ext>
            </a:extLst>
          </p:cNvPr>
          <p:cNvSpPr/>
          <p:nvPr/>
        </p:nvSpPr>
        <p:spPr>
          <a:xfrm>
            <a:off x="3138311" y="3556527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403960E-D6C1-058E-1ADE-6C2A7B723F9A}"/>
              </a:ext>
            </a:extLst>
          </p:cNvPr>
          <p:cNvSpPr/>
          <p:nvPr/>
        </p:nvSpPr>
        <p:spPr>
          <a:xfrm>
            <a:off x="7265082" y="3618046"/>
            <a:ext cx="1788607" cy="4923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389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88B50-8F71-3A13-98BD-03960833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Level 2 Vector Data Base</a:t>
            </a: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D9F06DF2-720F-A279-7F02-C44772DDE43B}"/>
              </a:ext>
            </a:extLst>
          </p:cNvPr>
          <p:cNvSpPr/>
          <p:nvPr/>
        </p:nvSpPr>
        <p:spPr>
          <a:xfrm>
            <a:off x="4730044" y="2731911"/>
            <a:ext cx="2901245" cy="232551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Chroma Database</a:t>
            </a:r>
          </a:p>
        </p:txBody>
      </p:sp>
    </p:spTree>
    <p:extLst>
      <p:ext uri="{BB962C8B-B14F-4D97-AF65-F5344CB8AC3E}">
        <p14:creationId xmlns:p14="http://schemas.microsoft.com/office/powerpoint/2010/main" val="1313927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89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System Level Design of  RAG Recommendation System </vt:lpstr>
      <vt:lpstr>Level 1</vt:lpstr>
      <vt:lpstr>Level 2 Proprietary Data </vt:lpstr>
      <vt:lpstr>Level 2 Embedding Model</vt:lpstr>
      <vt:lpstr>Level 2 Vector Data 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MT2024514 C Siva Kumar</dc:creator>
  <cp:lastModifiedBy>MT2024514 C Siva Kumar</cp:lastModifiedBy>
  <cp:revision>8</cp:revision>
  <dcterms:created xsi:type="dcterms:W3CDTF">2025-04-29T17:46:04Z</dcterms:created>
  <dcterms:modified xsi:type="dcterms:W3CDTF">2025-05-08T07:50:36Z</dcterms:modified>
</cp:coreProperties>
</file>